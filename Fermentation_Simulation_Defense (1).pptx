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Biomass (g/L)</c:v>
                </c:pt>
              </c:strCache>
            </c:strRef>
          </c:tx>
          <c:spPr>
            <a:solidFill>
              <a:srgbClr val="5B7B4A"/>
            </a:solidFill>
            <a:ln w="31750" cap="flat">
              <a:solidFill>
                <a:srgbClr val="5B7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7B4A"/>
              </a:solidFill>
              <a:ln w="9525" cap="flat">
                <a:solidFill>
                  <a:srgbClr val="5B7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  <c:pt idx="8">
                    <c:v>48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3.2</c:v>
                </c:pt>
                <c:pt idx="2">
                  <c:v>11.5</c:v>
                </c:pt>
                <c:pt idx="3">
                  <c:v>13.8</c:v>
                </c:pt>
                <c:pt idx="4">
                  <c:v>13.2</c:v>
                </c:pt>
                <c:pt idx="5">
                  <c:v>12.5</c:v>
                </c:pt>
                <c:pt idx="6">
                  <c:v>11.7</c:v>
                </c:pt>
                <c:pt idx="7">
                  <c:v>10.9</c:v>
                </c:pt>
                <c:pt idx="8">
                  <c:v>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Substrate (g/L)</c:v>
                </c:pt>
              </c:strCache>
            </c:strRef>
          </c:tx>
          <c:spPr>
            <a:solidFill>
              <a:srgbClr val="C8763A"/>
            </a:solidFill>
            <a:ln w="31750" cap="flat">
              <a:solidFill>
                <a:srgbClr val="C876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763A"/>
              </a:solidFill>
              <a:ln w="9525" cap="flat">
                <a:solidFill>
                  <a:srgbClr val="C876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  <c:pt idx="8">
                    <c:v>48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120</c:v>
                </c:pt>
                <c:pt idx="1">
                  <c:v>95</c:v>
                </c:pt>
                <c:pt idx="2">
                  <c:v>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Ethanol (g/L)</c:v>
                </c:pt>
              </c:strCache>
            </c:strRef>
          </c:tx>
          <c:spPr>
            <a:solidFill>
              <a:srgbClr val="B08968"/>
            </a:solidFill>
            <a:ln w="31750" cap="flat">
              <a:solidFill>
                <a:srgbClr val="B08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8968"/>
              </a:solidFill>
              <a:ln w="9525" cap="flat">
                <a:solidFill>
                  <a:srgbClr val="B08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6</c:v>
                  </c:pt>
                  <c:pt idx="2">
                    <c:v>12</c:v>
                  </c:pt>
                  <c:pt idx="3">
                    <c:v>18</c:v>
                  </c:pt>
                  <c:pt idx="4">
                    <c:v>24</c:v>
                  </c:pt>
                  <c:pt idx="5">
                    <c:v>30</c:v>
                  </c:pt>
                  <c:pt idx="6">
                    <c:v>36</c:v>
                  </c:pt>
                  <c:pt idx="7">
                    <c:v>42</c:v>
                  </c:pt>
                  <c:pt idx="8">
                    <c:v>48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8</c:v>
                </c:pt>
                <c:pt idx="2">
                  <c:v>28</c:v>
                </c:pt>
                <c:pt idx="3">
                  <c:v>35</c:v>
                </c:pt>
                <c:pt idx="4">
                  <c:v>39</c:v>
                </c:pt>
                <c:pt idx="5">
                  <c:v>42</c:v>
                </c:pt>
                <c:pt idx="6">
                  <c:v>44</c:v>
                </c:pt>
                <c:pt idx="7">
                  <c:v>45</c:v>
                </c:pt>
                <c:pt idx="8">
                  <c:v>46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Biomass (g/L)</c:v>
                </c:pt>
              </c:strCache>
            </c:strRef>
          </c:tx>
          <c:spPr>
            <a:solidFill>
              <a:srgbClr val="5B7B4A"/>
            </a:solidFill>
            <a:ln w="31750" cap="flat">
              <a:solidFill>
                <a:srgbClr val="5B7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7B4A"/>
              </a:solidFill>
              <a:ln w="9525" cap="flat">
                <a:solidFill>
                  <a:srgbClr val="5B7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12</c:v>
                  </c:pt>
                  <c:pt idx="6">
                    <c:v>18</c:v>
                  </c:pt>
                  <c:pt idx="7">
                    <c:v>24</c:v>
                  </c:pt>
                  <c:pt idx="8">
                    <c:v>30</c:v>
                  </c:pt>
                  <c:pt idx="9">
                    <c:v>36</c:v>
                  </c:pt>
                  <c:pt idx="10">
                    <c:v>42</c:v>
                  </c:pt>
                  <c:pt idx="11">
                    <c:v>48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</c:v>
                </c:pt>
                <c:pt idx="1">
                  <c:v>2.6</c:v>
                </c:pt>
                <c:pt idx="2">
                  <c:v>3.5</c:v>
                </c:pt>
                <c:pt idx="3">
                  <c:v>3.8</c:v>
                </c:pt>
                <c:pt idx="4">
                  <c:v>4.3</c:v>
                </c:pt>
                <c:pt idx="5">
                  <c:v>8</c:v>
                </c:pt>
                <c:pt idx="6">
                  <c:v>16</c:v>
                </c:pt>
                <c:pt idx="7">
                  <c:v>15.1</c:v>
                </c:pt>
                <c:pt idx="8">
                  <c:v>14.2</c:v>
                </c:pt>
                <c:pt idx="9">
                  <c:v>13.4</c:v>
                </c:pt>
                <c:pt idx="10">
                  <c:v>12.6</c:v>
                </c:pt>
                <c:pt idx="11">
                  <c:v>11.8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Substrate (g/L)</c:v>
                </c:pt>
              </c:strCache>
            </c:strRef>
          </c:tx>
          <c:spPr>
            <a:solidFill>
              <a:srgbClr val="C8763A"/>
            </a:solidFill>
            <a:ln w="31750" cap="flat">
              <a:solidFill>
                <a:srgbClr val="C876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763A"/>
              </a:solidFill>
              <a:ln w="9525" cap="flat">
                <a:solidFill>
                  <a:srgbClr val="C876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12</c:v>
                  </c:pt>
                  <c:pt idx="6">
                    <c:v>18</c:v>
                  </c:pt>
                  <c:pt idx="7">
                    <c:v>24</c:v>
                  </c:pt>
                  <c:pt idx="8">
                    <c:v>30</c:v>
                  </c:pt>
                  <c:pt idx="9">
                    <c:v>36</c:v>
                  </c:pt>
                  <c:pt idx="10">
                    <c:v>42</c:v>
                  </c:pt>
                  <c:pt idx="11">
                    <c:v>48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120</c:v>
                </c:pt>
                <c:pt idx="1">
                  <c:v>102.3</c:v>
                </c:pt>
                <c:pt idx="2">
                  <c:v>94.3</c:v>
                </c:pt>
                <c:pt idx="3">
                  <c:v>96.4</c:v>
                </c:pt>
                <c:pt idx="4">
                  <c:v>95.5</c:v>
                </c:pt>
                <c:pt idx="5">
                  <c:v>70.4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Ethanol (g/L)</c:v>
                </c:pt>
              </c:strCache>
            </c:strRef>
          </c:tx>
          <c:spPr>
            <a:solidFill>
              <a:srgbClr val="B08968"/>
            </a:solidFill>
            <a:ln w="31750" cap="flat">
              <a:solidFill>
                <a:srgbClr val="B08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8968"/>
              </a:solidFill>
              <a:ln w="9525" cap="flat">
                <a:solidFill>
                  <a:srgbClr val="B08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5</c:v>
                  </c:pt>
                  <c:pt idx="2">
                    <c:v>6</c:v>
                  </c:pt>
                  <c:pt idx="3">
                    <c:v>7</c:v>
                  </c:pt>
                  <c:pt idx="4">
                    <c:v>8</c:v>
                  </c:pt>
                  <c:pt idx="5">
                    <c:v>12</c:v>
                  </c:pt>
                  <c:pt idx="6">
                    <c:v>18</c:v>
                  </c:pt>
                  <c:pt idx="7">
                    <c:v>24</c:v>
                  </c:pt>
                  <c:pt idx="8">
                    <c:v>30</c:v>
                  </c:pt>
                  <c:pt idx="9">
                    <c:v>36</c:v>
                  </c:pt>
                  <c:pt idx="10">
                    <c:v>42</c:v>
                  </c:pt>
                  <c:pt idx="11">
                    <c:v>48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5</c:v>
                </c:pt>
                <c:pt idx="2">
                  <c:v>7.2</c:v>
                </c:pt>
                <c:pt idx="3">
                  <c:v>8.3</c:v>
                </c:pt>
                <c:pt idx="4">
                  <c:v>9.6</c:v>
                </c:pt>
                <c:pt idx="5">
                  <c:v>19</c:v>
                </c:pt>
                <c:pt idx="6">
                  <c:v>40.3</c:v>
                </c:pt>
                <c:pt idx="7">
                  <c:v>42.8</c:v>
                </c:pt>
                <c:pt idx="8">
                  <c:v>45.1</c:v>
                </c:pt>
                <c:pt idx="9">
                  <c:v>47.1</c:v>
                </c:pt>
                <c:pt idx="10">
                  <c:v>48.9</c:v>
                </c:pt>
                <c:pt idx="11">
                  <c:v>50.5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Biomass (g/L)</c:v>
                </c:pt>
              </c:strCache>
            </c:strRef>
          </c:tx>
          <c:spPr>
            <a:solidFill>
              <a:srgbClr val="5B7B4A"/>
            </a:solidFill>
            <a:ln w="31750" cap="flat">
              <a:solidFill>
                <a:srgbClr val="5B7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7B4A"/>
              </a:solidFill>
              <a:ln w="9525" cap="flat">
                <a:solidFill>
                  <a:srgbClr val="5B7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12</c:v>
                  </c:pt>
                  <c:pt idx="2">
                    <c:v>24</c:v>
                  </c:pt>
                  <c:pt idx="3">
                    <c:v>48</c:v>
                  </c:pt>
                  <c:pt idx="4">
                    <c:v>96</c:v>
                  </c:pt>
                  <c:pt idx="5">
                    <c:v>144</c:v>
                  </c:pt>
                  <c:pt idx="6">
                    <c:v>168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11</c:v>
                </c:pt>
                <c:pt idx="2">
                  <c:v>12.9</c:v>
                </c:pt>
                <c:pt idx="3">
                  <c:v>12.9</c:v>
                </c:pt>
                <c:pt idx="4">
                  <c:v>12.9</c:v>
                </c:pt>
                <c:pt idx="5">
                  <c:v>12.9</c:v>
                </c:pt>
                <c:pt idx="6">
                  <c:v>12.9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Substrate S* (g/L)</c:v>
                </c:pt>
              </c:strCache>
            </c:strRef>
          </c:tx>
          <c:spPr>
            <a:solidFill>
              <a:srgbClr val="C8763A"/>
            </a:solidFill>
            <a:ln w="31750" cap="flat">
              <a:solidFill>
                <a:srgbClr val="C876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763A"/>
              </a:solidFill>
              <a:ln w="9525" cap="flat">
                <a:solidFill>
                  <a:srgbClr val="C876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12</c:v>
                  </c:pt>
                  <c:pt idx="2">
                    <c:v>24</c:v>
                  </c:pt>
                  <c:pt idx="3">
                    <c:v>48</c:v>
                  </c:pt>
                  <c:pt idx="4">
                    <c:v>96</c:v>
                  </c:pt>
                  <c:pt idx="5">
                    <c:v>144</c:v>
                  </c:pt>
                  <c:pt idx="6">
                    <c:v>168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120</c:v>
                </c:pt>
                <c:pt idx="1">
                  <c:v>15</c:v>
                </c:pt>
                <c:pt idx="2">
                  <c:v>5.2</c:v>
                </c:pt>
                <c:pt idx="3">
                  <c:v>5.2</c:v>
                </c:pt>
                <c:pt idx="4">
                  <c:v>5.2</c:v>
                </c:pt>
                <c:pt idx="5">
                  <c:v>5.2</c:v>
                </c:pt>
                <c:pt idx="6">
                  <c:v>5.2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Ethanol (g/L)</c:v>
                </c:pt>
              </c:strCache>
            </c:strRef>
          </c:tx>
          <c:spPr>
            <a:solidFill>
              <a:srgbClr val="B08968"/>
            </a:solidFill>
            <a:ln w="31750" cap="flat">
              <a:solidFill>
                <a:srgbClr val="B08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08968"/>
              </a:solidFill>
              <a:ln w="9525" cap="flat">
                <a:solidFill>
                  <a:srgbClr val="B08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12</c:v>
                  </c:pt>
                  <c:pt idx="2">
                    <c:v>24</c:v>
                  </c:pt>
                  <c:pt idx="3">
                    <c:v>48</c:v>
                  </c:pt>
                  <c:pt idx="4">
                    <c:v>96</c:v>
                  </c:pt>
                  <c:pt idx="5">
                    <c:v>144</c:v>
                  </c:pt>
                  <c:pt idx="6">
                    <c:v>168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22</c:v>
                </c:pt>
                <c:pt idx="2">
                  <c:v>33</c:v>
                </c:pt>
                <c:pt idx="3">
                  <c:v>33</c:v>
                </c:pt>
                <c:pt idx="4">
                  <c:v>33</c:v>
                </c:pt>
                <c:pt idx="5">
                  <c:v>33</c:v>
                </c:pt>
                <c:pt idx="6">
                  <c:v>33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the project as a virtual bioreactor simulator, now adapted to carob pod feedstock - a locally relevant, sustainable substrate for Cyprus/the Mediterranean region.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motivation: physical experiments are expensive and slow. Our software lets users explore fermentation parameters virtually, in real time, across three industrially relevant operating modes.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pivot from generic glucose to carob pod extract - sustainability angle, regional relevance, and that real literature supports this substrate's fermentation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core Monod equation, then highlight the new inhibition factor (1-P/Pmax) - this is the major model addition. Briefly mention each mode's distinguishing equation without dwelling on derivations.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 tech overview: emphasize that simulation runs entirely client-side (instant feedback, no server cost), the stack is fully free/open-source, and the zoom feature lets users inspect fine details like the steady-state substrate residual.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updated parameter table. Emphasize Ks, Pmax, and beta as the key changes, each grounded in real carob fermentation literature (Vaheed 1985, Lima-Costa 2012, Najafpour-Darzi 2022).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batch and fed-batch side by side. Fed-batch's controlled feeding extends growth, raising peak biomass (16.2 vs 14.3 g/L) and final ethanol (50.5 vs 46.0 g/L), improving yield efficiency from 75% to 82% and nearly doubling profit.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addresses the model's key fix: adding ethanol-product inhibition. Explain that this single change resolved two issues at once - the unrealistic 100% yield cap and the incorrect 'substrate goes to zero' behavior in continuous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formula cards, then the worked example. Be upfront that the dollar figures are illustrative assumptions, not measured market data - this shows critical thinking to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confident summary of what was built and why it matters - the carob substrate choice, the inhibition model, the economic analysis, and the overall accessibility of the tool. End by inviting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FERMENTATION SIMULATION SOFTWARE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9D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Bioreactor for Carob Pod-Based Bioethanol Production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058400" y="548640"/>
            <a:ext cx="1828800" cy="1828800"/>
          </a:xfrm>
          <a:prstGeom prst="ellipse">
            <a:avLst/>
          </a:prstGeom>
          <a:solidFill>
            <a:srgbClr val="C8763A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1463040"/>
            <a:ext cx="914400" cy="914400"/>
          </a:xfrm>
          <a:prstGeom prst="ellipse">
            <a:avLst/>
          </a:prstGeom>
          <a:solidFill>
            <a:srgbClr val="5B7B4A">
              <a:alpha val="90000"/>
            </a:srgbClr>
          </a:solidFill>
          <a:ln/>
        </p:spPr>
      </p:sp>
      <p:pic>
        <p:nvPicPr>
          <p:cNvPr id="6" name="Image 0" descr="icons/seedl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Defense  -  ENGI 401/402  -  Cyprus International University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8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Asst. Prof. Dr. Nihal Bayir   |   Team: Alice Ilunga, Ahmed Hemed, Dorcas Bin Ali Selemani, Elvis Mtandika, Wisdom Ngaloru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Simulate Fermentation?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icons/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97280" y="25603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fermentation experiments are slow, costly, and resource-intensive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Bioethanol research needs rapid, low-cost parameter exploration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researchers need an intuitive tool to build understanding of fermentation dynamics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5B7B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8" name="Image 1" descr="icons/char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1828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675120" y="256032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virtual bioreactor with real-time, interactive simulation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reactor modes: Batch, Fed-Batch, and Continuous (CSTR)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economic analysis - revenue, cost, and profit per batch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Carob Pods?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993392"/>
            <a:ext cx="731520" cy="731520"/>
          </a:xfrm>
          <a:prstGeom prst="ellipse">
            <a:avLst/>
          </a:prstGeom>
          <a:solidFill>
            <a:srgbClr val="C8763A">
              <a:alpha val="15000"/>
            </a:srgbClr>
          </a:solidFill>
          <a:ln/>
        </p:spPr>
      </p:sp>
      <p:pic>
        <p:nvPicPr>
          <p:cNvPr id="5" name="Image 0" descr="icons/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148840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105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Locally Abundant &amp; Sustainable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103120" y="22402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Carob (Ceratonia siliqua) grows widely across the Mediterranean, including Cyprus - an agricultural by-product, not a food-competing crop.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324612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593592"/>
            <a:ext cx="731520" cy="731520"/>
          </a:xfrm>
          <a:prstGeom prst="ellipse">
            <a:avLst/>
          </a:prstGeom>
          <a:solidFill>
            <a:srgbClr val="C8763A">
              <a:alpha val="15000"/>
            </a:srgbClr>
          </a:solidFill>
          <a:ln/>
        </p:spPr>
      </p:sp>
      <p:pic>
        <p:nvPicPr>
          <p:cNvPr id="10" name="Image 1" descr="icons/wa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374904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34107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Sugar-Rich Feedstock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2103120" y="38404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Carob kibbles contain 45-50% fermentable sugars (sucrose, glucose, fructose) by dry weight - well suited for second-generation bioethanol.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31520" y="484632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51560" y="5193792"/>
            <a:ext cx="731520" cy="731520"/>
          </a:xfrm>
          <a:prstGeom prst="ellipse">
            <a:avLst/>
          </a:prstGeom>
          <a:solidFill>
            <a:srgbClr val="C8763A">
              <a:alpha val="15000"/>
            </a:srgbClr>
          </a:solidFill>
          <a:ln/>
        </p:spPr>
      </p:sp>
      <p:pic>
        <p:nvPicPr>
          <p:cNvPr id="15" name="Image 2" descr="icons/v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5349240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03120" y="50109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Fermentation Performance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2103120" y="544068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studies report carob-derived fermentations reaching 100-110 g/L ethanol at yields near the theoretical maximum (0.47-0.50 g/g).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Mathematical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of coupled ODEs, solved with 4th-order Runge-Kutta integration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554480"/>
          </a:xfrm>
          <a:prstGeom prst="roundRect">
            <a:avLst>
              <a:gd name="adj" fmla="val 4706"/>
            </a:avLst>
          </a:prstGeom>
          <a:solidFill>
            <a:srgbClr val="26331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11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D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Rate (Monod + Product Inhibition)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μ</a:t>
            </a:r>
            <a:pPr indent="0" marL="0">
              <a:buNone/>
            </a:pPr>
            <a:r>
              <a:rPr lang="en-US" sz="1600" baseline="-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S / (K</a:t>
            </a:r>
            <a:pPr indent="0" marL="0">
              <a:buNone/>
            </a:pPr>
            <a:r>
              <a:rPr lang="en-US" sz="1600" baseline="-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S)  ×  (1 - P / P</a:t>
            </a:r>
            <a:pPr indent="0" marL="0">
              <a:buNone/>
            </a:pPr>
            <a:r>
              <a:rPr lang="en-US" sz="1600" baseline="-1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term  (1 - P/Pmax)  models ethanol toxicity: as ethanol accumulates, growth slows and eventually halts at P = Pmax (90 g/L).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344728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43434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dX/dt = (μ - kd)X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dS/dt = -(1/Yxs)μX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dP/dt = αμX + βX(1-P/Pmax)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3657600"/>
            <a:ext cx="344728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Fed-Batch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43434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feed terms (F/V)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dV/dt = F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 stops at Vmax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3657600"/>
            <a:ext cx="3447288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8388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(CSTR)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3880" y="434340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dilution D = F/V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dS/dt = D(Sf-S) - ...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5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Steady state: μ = D + kd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open-source, and runs entirely client-side for instant feedback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TypeScript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Component-based interactive UI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HMR, native TypeScript 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Responsive, interactive data visualization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RK4 ODE Solver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integration (TypeScript)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Express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for programmatic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Vintage scientific-instrument theme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(55+ tests)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Unit, integration, validation 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828800"/>
            <a:ext cx="4023360" cy="4434840"/>
          </a:xfrm>
          <a:prstGeom prst="roundRect">
            <a:avLst>
              <a:gd name="adj" fmla="val 1818"/>
            </a:avLst>
          </a:prstGeom>
          <a:solidFill>
            <a:srgbClr val="26331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icons/cog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21031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210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Highlights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680960" y="2697480"/>
            <a:ext cx="3520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simulation - all ODE integration runs in-browser, zero server round-trips for results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~5,000 lines of TypeScript and CSS across 11 React components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chosen over Create React App for native TS 5.x support and faster HMR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drag-to-zoom charts for inspecting fine detail (e.g., steady-state residuals)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direct cost - all dependencies are free and open-source (MIT/Apache 2.0)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Kinetic Parameters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for carob pod-derived sugars, grounded in carob fermentation literature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280160"/>
                <a:gridCol w="6949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μ_max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h⁻¹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from glucose baseline (sucrose-rich substrate)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K_s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Vaheed et al. (1985) - optimum at 150 g/L initial sugar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g_P/g_X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Najafpour-Darzi et al. (2022) - growth-associated dominant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g_P/(g_X·h)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to keep yield within 0.511 g/g ceiling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Yxs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g_X/g_S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from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P_max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Lima-Costa et al. (2012) - carob fermentations reach 100-110 g/L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h⁻¹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from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range for S. cerevisiae: 30-35°C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 range: 4.5-5.0; below 3.5 inhibits growth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Results: Batch vs. Fed-Batch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7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Mode (48h, S₀ = 120 g/L)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5262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4709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Ethanol: 46.0 g/L     Yield Efficiency: 75%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Value: $5,830     Cost: $5,000     Profit: $830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0936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Fed-Batch Mode (48h, feed = 12,000 L/h @ 150 g/L)</a:t>
            </a:r>
            <a:endParaRPr lang="en-US" sz="16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309360" y="164592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8028432" y="2395728"/>
            <a:ext cx="164592" cy="164592"/>
          </a:xfrm>
          <a:prstGeom prst="ellipse">
            <a:avLst/>
          </a:prstGeom>
          <a:solidFill>
            <a:srgbClr val="C876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818120" y="175564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87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starts at t=6h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i="1" dirty="0">
                <a:solidFill>
                  <a:srgbClr val="C87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briefly rises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309360" y="452628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583680" y="4663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Ethanol: 50.5 g/L     Yield Efficiency: 82%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Biomass: 16.2 g/L (vs. 14.3 in batch)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Value: $9,607     Cost: $7,000     Profit: $2,607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(CSTR) Mode &amp; The Inhibition Effect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Steady-State Behavior (D = 0.15 h⁻¹, Sf = 120 g/L)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5943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7548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steady state at ~12h (batch startup), then holds constant - including a nonzero residual substrate (S* ≈ 5.2 g/L), consistent with chemostat theory.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949440" y="1234440"/>
            <a:ext cx="4480560" cy="4572000"/>
          </a:xfrm>
          <a:prstGeom prst="roundRect">
            <a:avLst>
              <a:gd name="adj" fmla="val 1633"/>
            </a:avLst>
          </a:prstGeom>
          <a:solidFill>
            <a:srgbClr val="26331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0876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63840" y="1508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Inhibition Matters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7315200" y="2103120"/>
            <a:ext cx="39319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product inhibition, batch/fed-batch yield efficiency was capped at an unrealistic 100%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(1 - P/Pmax) to both growth and maintenance terms keeps yield within the 0.511 g/g stoichiometric ceiling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mode now correctly settles at a nonzero steady-state substrate (S* ≈ 5.2 g/L), not zero - matching chemostat theory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Analysis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cost, and profit estimates built directly into the simulation summary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472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57400"/>
            <a:ext cx="640080" cy="640080"/>
          </a:xfrm>
          <a:prstGeom prst="ellipse">
            <a:avLst/>
          </a:prstGeom>
          <a:solidFill>
            <a:srgbClr val="5B7B4A">
              <a:alpha val="15000"/>
            </a:srgbClr>
          </a:solidFill>
          <a:ln/>
        </p:spPr>
      </p:sp>
      <p:pic>
        <p:nvPicPr>
          <p:cNvPr id="6" name="Image 0" descr="icons/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(Batch Value)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 (g/L) × Volume / 1000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0.789 (density)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$1.00/L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4472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C8763A">
              <a:alpha val="15000"/>
            </a:srgbClr>
          </a:solidFill>
          <a:ln/>
        </p:spPr>
      </p:sp>
      <p:pic>
        <p:nvPicPr>
          <p:cNvPr id="11" name="Image 1" descr="icons/indu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1945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Cost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Feedstock: Sugar mass ÷ 0.45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$0.15/kg carob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$1,000 fixed overhead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44728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2057400"/>
            <a:ext cx="640080" cy="640080"/>
          </a:xfrm>
          <a:prstGeom prst="ellipse">
            <a:avLst/>
          </a:prstGeom>
          <a:solidFill>
            <a:srgbClr val="8C7355">
              <a:alpha val="15000"/>
            </a:srgbClr>
          </a:solidFill>
          <a:ln/>
        </p:spPr>
      </p:sp>
      <p:pic>
        <p:nvPicPr>
          <p:cNvPr id="16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1945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Profit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83880" y="32461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- Cost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directly in the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panel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7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Default Batch Run (S₀ = 120 g/L, 100,000 L)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892040"/>
          <a:ext cx="10698480" cy="91440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Ethanol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Feedstock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7B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 g/L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$5,830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7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+$830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A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$0.15/kg (carob), $1.00/L (ethanol), and $1,000 overhead are stated assumptions - refine with local market data for rigorous techno-economic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3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4480560"/>
          </a:xfrm>
          <a:prstGeom prst="roundRect">
            <a:avLst>
              <a:gd name="adj" fmla="val 1633"/>
            </a:avLst>
          </a:prstGeom>
          <a:solidFill>
            <a:srgbClr val="33442B"/>
          </a:solidFill>
          <a:ln/>
        </p:spPr>
      </p:sp>
      <p:pic>
        <p:nvPicPr>
          <p:cNvPr id="4" name="Image 0" descr="icons/seedling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7830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7830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interactive bioreactor simulator for carob pod-based bioethanol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2514600"/>
            <a:ext cx="10058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reactor modes (Batch, Fed-Batch, Continuous) modeled with Monod kinetics extended by a Levenspiel-type ethanol inhibition term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 adjusted for carob pod extract and grounded in published carob fermentation literature (Lima-Costa 2012, Vaheed 1985, Najafpour-Darzi 2022)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economic analysis: revenue, production cost, and net profit per batch - directly relevant to carob's local availability and sustainability value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interactive charts with drag-to-zoom for inspecting fine-grained dynamics (e.g., steady-state residuals)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A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open-source, full-stack web application - accessible to students and researchers alike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D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- Questions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Fermentation Simulation Software - Capstone Defense</dc:title>
  <dc:subject>PptxGenJS Presentation</dc:subject>
  <dc:creator>Team - CIU Capstone</dc:creator>
  <cp:lastModifiedBy>Team - CIU Capstone</cp:lastModifiedBy>
  <cp:revision>1</cp:revision>
  <dcterms:created xsi:type="dcterms:W3CDTF">2026-06-15T16:51:11Z</dcterms:created>
  <dcterms:modified xsi:type="dcterms:W3CDTF">2026-06-15T16:51:11Z</dcterms:modified>
</cp:coreProperties>
</file>